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Market Success</a:t>
            </a:r>
          </a:p>
          <a:p>
            <a:r>
              <a:rPr sz="4600" b="1" i="0">
                <a:solidFill>
                  <a:srgbClr val="0E7C6B"/>
                </a:solidFill>
                <a:latin typeface="Calibri"/>
              </a:rPr>
              <a:t>Viability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97763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9D6D3"/>
                </a:solidFill>
                <a:latin typeface="Calibri"/>
              </a:rPr>
              <a:t>An explainable AI system that estimates how consumers would receive a new product — before it launches.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9AADA8"/>
                </a:solidFill>
                <a:latin typeface="Calibri"/>
              </a:rPr>
              <a:t>Capstone Project  ·  Machine Learning Track  ·  2026</a:t>
            </a:r>
          </a:p>
          <a:p>
            <a:r>
              <a:rPr sz="1250" b="0" i="0">
                <a:solidFill>
                  <a:srgbClr val="748C86"/>
                </a:solidFill>
                <a:latin typeface="Calibri"/>
              </a:rPr>
              <a:t>LLM aspect extraction  ·  XGBoost  ·  SHAP  ·  React + FastAPI (live on Render)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Launching a product is a blind, high-stakes bet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A new hardware launch costs lakhs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and most of that is committed before a single unit sells.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Founders have no data-driven sanity check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on a design while it is still on the drawing board.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Existing analytics look backward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they analyse products that are already on the market, which is too late to change the design.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The real question is forward-looking: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how would consumers likely receive this specific product, and what should we fix first?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87044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E7C6B"/>
                </a:solidFill>
                <a:latin typeface="Calibri"/>
              </a:rPr>
              <a:t>Goal: turn thousands of real consumer reviews into pre-launch, explainable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A Market Viability Assessment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Input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pick a category, a price, and describe the product's specs in plain language.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Output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a 0–100 viability score, a market-percentile rank, and a clear breakdown of which aspects raise and lower the score.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Grounded in real data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every judgement is made against thousands of real reviews of existing products in that category.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Actionable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a built-in Spec Coach flags which product aspects are under-described so the founder can strengthen the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Learn from reviews at the aspect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Reviews encode expectations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they reveal what consumers in each category reward and punish.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Break it into concrete aspects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value for money, build quality, reliability, ease of use, durability, and more.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Train on existing products, estimate for a new one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the model learns category patterns, then judges a new product's specs against them.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12232A"/>
                </a:solidFill>
                <a:latin typeface="Calibri"/>
              </a:rPr>
              <a:t>Honest scope</a:t>
            </a:r>
            <a:r>
              <a:rPr sz="1600" b="0" i="0">
                <a:solidFill>
                  <a:srgbClr val="22333B"/>
                </a:solidFill>
                <a:latin typeface="Calibri"/>
              </a:rPr>
              <a:t> — it is a viability assessment, not a sales forecast. The success label is a review-derived proxy, and we say 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Three components, each doing what it is best 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3429000" cy="310896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3429000" cy="73152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E7C6B"/>
                </a:solidFill>
                <a:latin typeface="Calibri"/>
              </a:rPr>
              <a:t>1 · LLM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12232A"/>
                </a:solidFill>
                <a:latin typeface="Calibri"/>
              </a:rPr>
              <a:t>Perception translator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2333B"/>
                </a:solidFill>
                <a:latin typeface="Calibri"/>
              </a:rPr>
              <a:t>Turns review text — and later a new product's specs — into structured 0–10 aspect scores.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7992" y="2468880"/>
            <a:ext cx="3429000" cy="310896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7992" y="2468880"/>
            <a:ext cx="3429000" cy="73152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74320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E7C6B"/>
                </a:solidFill>
                <a:latin typeface="Calibri"/>
              </a:rPr>
              <a:t>2 · XGBoost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12232A"/>
                </a:solidFill>
                <a:latin typeface="Calibri"/>
              </a:rPr>
              <a:t>Outcome predictor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2333B"/>
                </a:solidFill>
                <a:latin typeface="Calibri"/>
              </a:rPr>
              <a:t>Learns, from thousands of real products, which aspect patterns drive market success in each category.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2468880"/>
            <a:ext cx="3429000" cy="310896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2468880"/>
            <a:ext cx="3429000" cy="73152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274320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0E7C6B"/>
                </a:solidFill>
                <a:latin typeface="Calibri"/>
              </a:rPr>
              <a:t>3 · SHAP</a:t>
            </a:r>
          </a:p>
          <a:p>
            <a:pPr>
              <a:spcBef>
                <a:spcPts val="200"/>
              </a:spcBef>
            </a:pPr>
            <a:r>
              <a:rPr sz="1400" b="1" i="0">
                <a:solidFill>
                  <a:srgbClr val="12232A"/>
                </a:solidFill>
                <a:latin typeface="Calibri"/>
              </a:rPr>
              <a:t>Decision support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22333B"/>
                </a:solidFill>
                <a:latin typeface="Calibri"/>
              </a:rPr>
              <a:t>Decomposes every prediction into the aspects raising and lowering it — explainable, not a black box.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1">
                <a:solidFill>
                  <a:srgbClr val="46565E"/>
                </a:solidFill>
                <a:latin typeface="Calibri"/>
              </a:rPr>
              <a:t>The LLM understands language · XGBoost does the statistics · SHAP explains the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Real reviews, cleaned into 5 solid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2232A"/>
                </a:solidFill>
                <a:latin typeface="Calibri"/>
              </a:rPr>
              <a:t>Source</a:t>
            </a:r>
            <a:r>
              <a:rPr sz="1500" b="0" i="0">
                <a:solidFill>
                  <a:srgbClr val="22333B"/>
                </a:solidFill>
                <a:latin typeface="Calibri"/>
              </a:rPr>
              <a:t> — Amazon Reviews 2023 (McAuley Lab): real, public, large-scale review data.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2232A"/>
                </a:solidFill>
                <a:latin typeface="Calibri"/>
              </a:rPr>
              <a:t>Cleaned hard</a:t>
            </a:r>
            <a:r>
              <a:rPr sz="1500" b="0" i="0">
                <a:solidFill>
                  <a:srgbClr val="22333B"/>
                </a:solidFill>
                <a:latin typeface="Calibri"/>
              </a:rPr>
              <a:t> — contaminated categories were dropped (smartphones ~64% accessories, kitchen ~76% consumables); a clean ‘ice makers’ category was built to replace kitchen.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3566160"/>
          <a:ext cx="6583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463040"/>
                <a:gridCol w="1463040"/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Reviews</a:t>
                      </a:r>
                    </a:p>
                  </a:txBody>
                  <a:tcPr>
                    <a:solidFill>
                      <a:srgbClr val="0E7C6B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Wireless headphones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16,473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Bluetooth speakers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12,225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Ice makers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6,988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Smartwatches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3,981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Power banks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2232A"/>
                          </a:solidFill>
                          <a:latin typeface="Calibri"/>
                        </a:rPr>
                        <a:t>3,932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2232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12232A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12232A"/>
                          </a:solidFill>
                          <a:latin typeface="Calibri"/>
                        </a:rPr>
                        <a:t>43,599</a:t>
                      </a:r>
                    </a:p>
                  </a:txBody>
                  <a:tcPr>
                    <a:solidFill>
                      <a:srgbClr val="EA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THE ML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One command: clean data → trained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Load &amp; verify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contract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15468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6B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2576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22576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22576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LLM extraction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aspect 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5616" y="315468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6B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3632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13632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Label engineering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success proxy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15468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6B"/>
                </a:solidFill>
                <a:latin typeface="Calibr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04688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4688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Feature matrix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model 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15468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6B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95744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95744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95744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XGBoost + SHAP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trained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315468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6B"/>
                </a:solidFill>
                <a:latin typeface="Calibri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0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41664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Category profiles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bridging context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3154680"/>
            <a:ext cx="146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7C6B"/>
                </a:solidFill>
                <a:latin typeface="Calibri"/>
              </a:rPr>
              <a:t>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77856" y="2651760"/>
            <a:ext cx="1481328" cy="155448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77856" y="2651760"/>
            <a:ext cx="1481328" cy="4572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77856" y="2670048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3154680"/>
            <a:ext cx="1371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2232A"/>
                </a:solidFill>
                <a:latin typeface="Calibri"/>
              </a:rPr>
              <a:t>Bridging + predict</a:t>
            </a:r>
          </a:p>
          <a:p>
            <a:pPr algn="ctr">
              <a:spcBef>
                <a:spcPts val="300"/>
              </a:spcBef>
            </a:pPr>
            <a:r>
              <a:rPr sz="950" b="0" i="0">
                <a:solidFill>
                  <a:srgbClr val="46565E"/>
                </a:solidFill>
                <a:latin typeface="Calibri"/>
              </a:rPr>
              <a:t>live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5720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2232A"/>
                </a:solidFill>
                <a:latin typeface="Calibri"/>
              </a:rPr>
              <a:t>Every stage caches its output and is independently re-runnable</a:t>
            </a:r>
            <a:r>
              <a:rPr sz="1400" b="0" i="0">
                <a:solidFill>
                  <a:srgbClr val="22333B"/>
                </a:solidFill>
                <a:latin typeface="Calibri"/>
              </a:rPr>
              <a:t> — fixing a later stage never re-runs the expensive LLM extraction.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400" b="1" i="0">
                <a:solidFill>
                  <a:srgbClr val="12232A"/>
                </a:solidFill>
                <a:latin typeface="Calibri"/>
              </a:rPr>
              <a:t>The feature order is frozen on disk</a:t>
            </a:r>
            <a:r>
              <a:rPr sz="1400" b="0" i="0">
                <a:solidFill>
                  <a:srgbClr val="22333B"/>
                </a:solidFill>
                <a:latin typeface="Calibri"/>
              </a:rPr>
              <a:t> — training and prediction can never silently misalign.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THE NOVEL PIECE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The bridging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The problem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a brand-new product has no reviews, so it cannot be scored directly.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The solution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the bridging LLM translates the product's specs into aspect scores, using that category's real intelligence (price norms, pain points, strengths).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Example reasoning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“priced below the median with fast charging → high value for money; sealed body in a category where repairability is a known pain point → low repairability.”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Then the pipeline takes over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the estimated aspect vector flows into XGBoost for the score and SHAP for the explanation.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Reported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3429000" cy="306324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3429000" cy="73152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E7C6B"/>
                </a:solidFill>
                <a:latin typeface="Calibri"/>
              </a:rPr>
              <a:t>0.892</a:t>
            </a:r>
          </a:p>
          <a:p>
            <a:pPr>
              <a:spcBef>
                <a:spcPts val="200"/>
              </a:spcBef>
            </a:pPr>
            <a:r>
              <a:rPr sz="1350" b="1" i="0">
                <a:solidFill>
                  <a:srgbClr val="12232A"/>
                </a:solidFill>
                <a:latin typeface="Calibri"/>
              </a:rPr>
              <a:t>Full model R² (5-fold CV)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22333B"/>
                </a:solidFill>
                <a:latin typeface="Calibri"/>
              </a:rPr>
              <a:t>Includes rating &amp; price — inflated, shown for completeness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7992" y="2468880"/>
            <a:ext cx="3429000" cy="306324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7992" y="2468880"/>
            <a:ext cx="3429000" cy="73152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6974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E7C6B"/>
                </a:solidFill>
                <a:latin typeface="Calibri"/>
              </a:rPr>
              <a:t>0.566</a:t>
            </a:r>
          </a:p>
          <a:p>
            <a:pPr>
              <a:spcBef>
                <a:spcPts val="200"/>
              </a:spcBef>
            </a:pPr>
            <a:r>
              <a:rPr sz="1350" b="1" i="0">
                <a:solidFill>
                  <a:srgbClr val="12232A"/>
                </a:solidFill>
                <a:latin typeface="Calibri"/>
              </a:rPr>
              <a:t>Aspects-only R² (headline)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22333B"/>
                </a:solidFill>
                <a:latin typeface="Calibri"/>
              </a:rPr>
              <a:t>What the LLM aspect features contribute alone — the honest number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2468880"/>
            <a:ext cx="3429000" cy="3063240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4" y="2468880"/>
            <a:ext cx="3429000" cy="73152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2697480"/>
            <a:ext cx="2971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E7C6B"/>
                </a:solidFill>
                <a:latin typeface="Calibri"/>
              </a:rPr>
              <a:t>0.90</a:t>
            </a:r>
          </a:p>
          <a:p>
            <a:pPr>
              <a:spcBef>
                <a:spcPts val="200"/>
              </a:spcBef>
            </a:pPr>
            <a:r>
              <a:rPr sz="1350" b="1" i="0">
                <a:solidFill>
                  <a:srgbClr val="12232A"/>
                </a:solidFill>
                <a:latin typeface="Calibri"/>
              </a:rPr>
              <a:t>Holdout AUC (118 products)</a:t>
            </a:r>
          </a:p>
          <a:p>
            <a:pPr>
              <a:spcBef>
                <a:spcPts val="800"/>
              </a:spcBef>
            </a:pPr>
            <a:r>
              <a:rPr sz="1200" b="0" i="0">
                <a:solidFill>
                  <a:srgbClr val="22333B"/>
                </a:solidFill>
                <a:latin typeface="Calibri"/>
              </a:rPr>
              <a:t>Ranks hits above flops out-of-sample — and 0.94 forward-in-time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1">
                <a:solidFill>
                  <a:srgbClr val="46565E"/>
                </a:solidFill>
                <a:latin typeface="Calibri"/>
              </a:rPr>
              <a:t>We lead with the aspects-only figure and the external holdout — not the flashy 0.892. The LLM features carry genuine, category-specific signal.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THE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A live, explainable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Simulator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enter specs and get the viability score, a market-positioning grid of real competitors, aspect charts, and SHAP risk/strength cards.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Spec Coach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critiques your draft, shows which of the 9 aspects lack concrete evidence, and asks sharpening questions.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Trust safeguards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confidence is scaled by how much of the spec is actually evidenced; vague specs get a warning, and near-empty specs have their prediction withheld with an explanation.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Stack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a React front end served by a FastAPI backend; the model runs in-process.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Live, containerized, and reproducible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6070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Containerized with Docker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and deployed as a web service on Render's free tier — the exact app runs the same locally and in the cloud.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Public GitHub repository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built from a clean history and scanned so no API keys are ever exposed; keys live only in the host's secret store.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5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2232A"/>
                </a:solidFill>
                <a:latin typeface="Calibri"/>
              </a:rPr>
              <a:t>Chosen deliberately</a:t>
            </a:r>
            <a:r>
              <a:rPr sz="1550" b="0" i="0">
                <a:solidFill>
                  <a:srgbClr val="22333B"/>
                </a:solidFill>
                <a:latin typeface="Calibri"/>
              </a:rPr>
              <a:t> — Streamlit Cloud cannot serve this React + API architecture, and Hugging Face now charges for the Docker runtime; Render keeps the full UI, for free.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0E7C6B"/>
                </a:solidFill>
                <a:latin typeface="Calibri"/>
              </a:rPr>
              <a:t>HONESTY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2232A"/>
                </a:solidFill>
                <a:latin typeface="Calibri"/>
              </a:rPr>
              <a:t>What the system can and cannot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657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6565E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27432"/>
          </a:xfrm>
          <a:prstGeom prst="rect">
            <a:avLst/>
          </a:prstGeom>
          <a:solidFill>
            <a:srgbClr val="EA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2232A"/>
                </a:solidFill>
                <a:latin typeface="Calibri"/>
              </a:rPr>
              <a:t>Proxy label</a:t>
            </a:r>
            <a:r>
              <a:rPr sz="1450" b="0" i="0">
                <a:solidFill>
                  <a:srgbClr val="22333B"/>
                </a:solidFill>
                <a:latin typeface="Calibri"/>
              </a:rPr>
              <a:t> — success is measured from review volume, rating, and velocity, not real sales figures.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E7C6B"/>
                </a:solidFill>
                <a:latin typeface="Calibri"/>
              </a:rPr>
              <a:t>▸  Ranking, not point precision — reliable at ordering products, not at pinning an exact score; shown as a range.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E7C6B"/>
                </a:solidFill>
                <a:latin typeface="Calibri"/>
              </a:rPr>
              <a:t>▸  Bounded by spec-expressiveness — cannot differentiate commodity appliances (ice makers) from capacity-only specs; the earlier price-inversion quirk was fixed with a monotonic price constraint.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2232A"/>
                </a:solidFill>
                <a:latin typeface="Calibri"/>
              </a:rPr>
              <a:t>Out of scope by design</a:t>
            </a:r>
            <a:r>
              <a:rPr sz="1450" b="0" i="0">
                <a:solidFill>
                  <a:srgbClr val="22333B"/>
                </a:solidFill>
                <a:latin typeface="Calibri"/>
              </a:rPr>
              <a:t> — no brand, distribution, or manufacturing-margin modelling; that is a different, commercial-forecasting product.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5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450" b="1" i="0">
                <a:solidFill>
                  <a:srgbClr val="12232A"/>
                </a:solidFill>
                <a:latin typeface="Calibri"/>
              </a:rPr>
              <a:t>Disclosed, not hidden</a:t>
            </a:r>
            <a:r>
              <a:rPr sz="1450" b="0" i="0">
                <a:solidFill>
                  <a:srgbClr val="22333B"/>
                </a:solidFill>
                <a:latin typeface="Calibri"/>
              </a:rPr>
              <a:t> — these are presented as explicit threats-to-validity, and the confidence/abstain safeguards are the honest response to weak inputs.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45720"/>
          </a:xfrm>
          <a:prstGeom prst="rect">
            <a:avLst/>
          </a:prstGeom>
          <a:solidFill>
            <a:srgbClr val="0E7C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E7C6B"/>
                </a:solidFill>
                <a:latin typeface="Calibri"/>
              </a:rPr>
              <a:t>In one line</a:t>
            </a:r>
          </a:p>
          <a:p>
            <a:r>
              <a:rPr sz="30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Delivered</a:t>
            </a:r>
            <a:r>
              <a:rPr sz="1700" b="0" i="0">
                <a:solidFill>
                  <a:srgbClr val="C9D6D3"/>
                </a:solidFill>
                <a:latin typeface="Calibri"/>
              </a:rPr>
              <a:t> — an end-to-end, explainable pre-launch viability tool, deployed live.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Novel contribution</a:t>
            </a:r>
            <a:r>
              <a:rPr sz="1700" b="0" i="0">
                <a:solidFill>
                  <a:srgbClr val="C9D6D3"/>
                </a:solidFill>
                <a:latin typeface="Calibri"/>
              </a:rPr>
              <a:t> — an LLM bridging layer that maps product specs onto review-derived consumer aspects.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Engineering maturity</a:t>
            </a:r>
            <a:r>
              <a:rPr sz="1700" b="0" i="0">
                <a:solidFill>
                  <a:srgbClr val="C9D6D3"/>
                </a:solidFill>
                <a:latin typeface="Calibri"/>
              </a:rPr>
              <a:t> — cleaned data, frozen contracts, honest metrics, and trust safeguards throughout.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0E7C6B"/>
                </a:solidFill>
                <a:latin typeface="Calibri"/>
              </a:rPr>
              <a:t>▸  </a:t>
            </a:r>
            <a:r>
              <a:rPr sz="1700" b="1" i="0">
                <a:solidFill>
                  <a:srgbClr val="FFFFFF"/>
                </a:solidFill>
                <a:latin typeface="Calibri"/>
              </a:rPr>
              <a:t>Future work</a:t>
            </a:r>
            <a:r>
              <a:rPr sz="1700" b="0" i="0">
                <a:solidFill>
                  <a:srgbClr val="C9D6D3"/>
                </a:solidFill>
                <a:latin typeface="Calibri"/>
              </a:rPr>
              <a:t> — add brand &amp; distribution signals, a real demand-curve price model, and more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E7C6B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